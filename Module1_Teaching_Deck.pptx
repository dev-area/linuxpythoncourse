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2"/>
  </p:notesMasterIdLst>
  <p:sldIdLst>
    <p:sldId id="256" r:id="rId2"/>
    <p:sldId id="323" r:id="rId3"/>
    <p:sldId id="258" r:id="rId4"/>
    <p:sldId id="257" r:id="rId5"/>
    <p:sldId id="324" r:id="rId6"/>
    <p:sldId id="325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336" r:id="rId34"/>
    <p:sldId id="337" r:id="rId35"/>
    <p:sldId id="338" r:id="rId36"/>
    <p:sldId id="339" r:id="rId37"/>
    <p:sldId id="340" r:id="rId38"/>
    <p:sldId id="341" r:id="rId39"/>
    <p:sldId id="342" r:id="rId40"/>
    <p:sldId id="343" r:id="rId41"/>
    <p:sldId id="293" r:id="rId42"/>
    <p:sldId id="294" r:id="rId43"/>
    <p:sldId id="295" r:id="rId44"/>
    <p:sldId id="296" r:id="rId45"/>
    <p:sldId id="297" r:id="rId46"/>
    <p:sldId id="400" r:id="rId123"/>
    <p:sldId id="401" r:id="rId124"/>
    <p:sldId id="402" r:id="rId125"/>
    <p:sldId id="403" r:id="rId126"/>
    <p:sldId id="404" r:id="rId127"/>
    <p:sldId id="405" r:id="rId128"/>
    <p:sldId id="406" r:id="rId129"/>
    <p:sldId id="407" r:id="rId130"/>
    <p:sldId id="408" r:id="rId131"/>
    <p:sldId id="409" r:id="rId132"/>
    <p:sldId id="410" r:id="rId133"/>
    <p:sldId id="411" r:id="rId134"/>
    <p:sldId id="412" r:id="rId135"/>
    <p:sldId id="413" r:id="rId136"/>
    <p:sldId id="414" r:id="rId137"/>
    <p:sldId id="415" r:id="rId138"/>
    <p:sldId id="416" r:id="rId139"/>
    <p:sldId id="298" r:id="rId47"/>
    <p:sldId id="299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6" r:id="rId63"/>
    <p:sldId id="318" r:id="rId64"/>
    <p:sldId id="319" r:id="rId65"/>
    <p:sldId id="320" r:id="rId66"/>
    <p:sldId id="349" r:id="rId67"/>
    <p:sldId id="350" r:id="rId68"/>
    <p:sldId id="351" r:id="rId69"/>
    <p:sldId id="352" r:id="rId70"/>
    <p:sldId id="353" r:id="rId71"/>
    <p:sldId id="354" r:id="rId72"/>
    <p:sldId id="355" r:id="rId73"/>
    <p:sldId id="356" r:id="rId74"/>
    <p:sldId id="357" r:id="rId75"/>
    <p:sldId id="384" r:id="rId107"/>
    <p:sldId id="385" r:id="rId108"/>
    <p:sldId id="386" r:id="rId109"/>
    <p:sldId id="387" r:id="rId110"/>
    <p:sldId id="388" r:id="rId111"/>
    <p:sldId id="389" r:id="rId112"/>
    <p:sldId id="390" r:id="rId113"/>
    <p:sldId id="391" r:id="rId114"/>
    <p:sldId id="358" r:id="rId76"/>
    <p:sldId id="359" r:id="rId77"/>
    <p:sldId id="360" r:id="rId78"/>
    <p:sldId id="392" r:id="rId115"/>
    <p:sldId id="393" r:id="rId116"/>
    <p:sldId id="394" r:id="rId117"/>
    <p:sldId id="395" r:id="rId118"/>
    <p:sldId id="396" r:id="rId119"/>
    <p:sldId id="397" r:id="rId120"/>
    <p:sldId id="398" r:id="rId121"/>
    <p:sldId id="399" r:id="rId122"/>
    <p:sldId id="450" r:id="rId173"/>
    <p:sldId id="451" r:id="rId174"/>
    <p:sldId id="452" r:id="rId175"/>
    <p:sldId id="453" r:id="rId176"/>
    <p:sldId id="454" r:id="rId177"/>
    <p:sldId id="455" r:id="rId178"/>
    <p:sldId id="456" r:id="rId179"/>
    <p:sldId id="457" r:id="rId180"/>
    <p:sldId id="458" r:id="rId181"/>
    <p:sldId id="459" r:id="rId182"/>
    <p:sldId id="460" r:id="rId183"/>
    <p:sldId id="461" r:id="rId184"/>
    <p:sldId id="462" r:id="rId185"/>
    <p:sldId id="463" r:id="rId186"/>
    <p:sldId id="464" r:id="rId187"/>
    <p:sldId id="465" r:id="rId188"/>
    <p:sldId id="466" r:id="rId189"/>
    <p:sldId id="467" r:id="rId190"/>
    <p:sldId id="468" r:id="rId191"/>
    <p:sldId id="469" r:id="rId192"/>
    <p:sldId id="470" r:id="rId193"/>
    <p:sldId id="471" r:id="rId194"/>
    <p:sldId id="472" r:id="rId195"/>
    <p:sldId id="473" r:id="rId196"/>
    <p:sldId id="474" r:id="rId197"/>
    <p:sldId id="475" r:id="rId198"/>
    <p:sldId id="476" r:id="rId199"/>
    <p:sldId id="477" r:id="rId200"/>
    <p:sldId id="478" r:id="rId201"/>
    <p:sldId id="479" r:id="rId202"/>
    <p:sldId id="480" r:id="rId203"/>
    <p:sldId id="481" r:id="rId204"/>
    <p:sldId id="482" r:id="rId205"/>
    <p:sldId id="483" r:id="rId206"/>
    <p:sldId id="374" r:id="rId92"/>
    <p:sldId id="375" r:id="rId93"/>
    <p:sldId id="376" r:id="rId94"/>
    <p:sldId id="377" r:id="rId95"/>
    <p:sldId id="378" r:id="rId96"/>
    <p:sldId id="379" r:id="rId97"/>
    <p:sldId id="380" r:id="rId98"/>
    <p:sldId id="381" r:id="rId99"/>
    <p:sldId id="382" r:id="rId100"/>
    <p:sldId id="383" r:id="rId10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63.xml"/><Relationship Id="rId48" Type="http://schemas.openxmlformats.org/officeDocument/2006/relationships/slide" Target="slides/slide64.xml"/><Relationship Id="rId49" Type="http://schemas.openxmlformats.org/officeDocument/2006/relationships/slide" Target="slides/slide65.xml"/><Relationship Id="rId50" Type="http://schemas.openxmlformats.org/officeDocument/2006/relationships/slide" Target="slides/slide66.xml"/><Relationship Id="rId51" Type="http://schemas.openxmlformats.org/officeDocument/2006/relationships/slide" Target="slides/slide67.xml"/><Relationship Id="rId52" Type="http://schemas.openxmlformats.org/officeDocument/2006/relationships/slide" Target="slides/slide68.xml"/><Relationship Id="rId53" Type="http://schemas.openxmlformats.org/officeDocument/2006/relationships/slide" Target="slides/slide69.xml"/><Relationship Id="rId54" Type="http://schemas.openxmlformats.org/officeDocument/2006/relationships/slide" Target="slides/slide70.xml"/><Relationship Id="rId55" Type="http://schemas.openxmlformats.org/officeDocument/2006/relationships/slide" Target="slides/slide71.xml"/><Relationship Id="rId56" Type="http://schemas.openxmlformats.org/officeDocument/2006/relationships/slide" Target="slides/slide72.xml"/><Relationship Id="rId57" Type="http://schemas.openxmlformats.org/officeDocument/2006/relationships/slide" Target="slides/slide73.xml"/><Relationship Id="rId58" Type="http://schemas.openxmlformats.org/officeDocument/2006/relationships/slide" Target="slides/slide74.xml"/><Relationship Id="rId59" Type="http://schemas.openxmlformats.org/officeDocument/2006/relationships/slide" Target="slides/slide75.xml"/><Relationship Id="rId60" Type="http://schemas.openxmlformats.org/officeDocument/2006/relationships/slide" Target="slides/slide76.xml"/><Relationship Id="rId61" Type="http://schemas.openxmlformats.org/officeDocument/2006/relationships/slide" Target="slides/slide77.xml"/><Relationship Id="rId62" Type="http://schemas.openxmlformats.org/officeDocument/2006/relationships/slide" Target="slides/slide78.xml"/><Relationship Id="rId63" Type="http://schemas.openxmlformats.org/officeDocument/2006/relationships/slide" Target="slides/slide79.xml"/><Relationship Id="rId64" Type="http://schemas.openxmlformats.org/officeDocument/2006/relationships/slide" Target="slides/slide80.xml"/><Relationship Id="rId65" Type="http://schemas.openxmlformats.org/officeDocument/2006/relationships/slide" Target="slides/slide81.xml"/><Relationship Id="rId66" Type="http://schemas.openxmlformats.org/officeDocument/2006/relationships/slide" Target="slides/slide82.xml"/><Relationship Id="rId67" Type="http://schemas.openxmlformats.org/officeDocument/2006/relationships/slide" Target="slides/slide83.xml"/><Relationship Id="rId68" Type="http://schemas.openxmlformats.org/officeDocument/2006/relationships/slide" Target="slides/slide84.xml"/><Relationship Id="rId69" Type="http://schemas.openxmlformats.org/officeDocument/2006/relationships/slide" Target="slides/slide85.xml"/><Relationship Id="rId70" Type="http://schemas.openxmlformats.org/officeDocument/2006/relationships/slide" Target="slides/slide86.xml"/><Relationship Id="rId71" Type="http://schemas.openxmlformats.org/officeDocument/2006/relationships/slide" Target="slides/slide87.xml"/><Relationship Id="rId72" Type="http://schemas.openxmlformats.org/officeDocument/2006/relationships/slide" Target="slides/slide88.xml"/><Relationship Id="rId73" Type="http://schemas.openxmlformats.org/officeDocument/2006/relationships/slide" Target="slides/slide89.xml"/><Relationship Id="rId74" Type="http://schemas.openxmlformats.org/officeDocument/2006/relationships/slide" Target="slides/slide90.xml"/><Relationship Id="rId75" Type="http://schemas.openxmlformats.org/officeDocument/2006/relationships/slide" Target="slides/slide91.xml"/><Relationship Id="rId76" Type="http://schemas.openxmlformats.org/officeDocument/2006/relationships/slide" Target="slides/slide100.xml"/><Relationship Id="rId77" Type="http://schemas.openxmlformats.org/officeDocument/2006/relationships/slide" Target="slides/slide101.xml"/><Relationship Id="rId78" Type="http://schemas.openxmlformats.org/officeDocument/2006/relationships/slide" Target="slides/slide102.xml"/><Relationship Id="rId92" Type="http://schemas.openxmlformats.org/officeDocument/2006/relationships/slide" Target="slides/slide144.xml"/><Relationship Id="rId93" Type="http://schemas.openxmlformats.org/officeDocument/2006/relationships/slide" Target="slides/slide145.xml"/><Relationship Id="rId94" Type="http://schemas.openxmlformats.org/officeDocument/2006/relationships/slide" Target="slides/slide146.xml"/><Relationship Id="rId95" Type="http://schemas.openxmlformats.org/officeDocument/2006/relationships/slide" Target="slides/slide147.xml"/><Relationship Id="rId96" Type="http://schemas.openxmlformats.org/officeDocument/2006/relationships/slide" Target="slides/slide148.xml"/><Relationship Id="rId97" Type="http://schemas.openxmlformats.org/officeDocument/2006/relationships/slide" Target="slides/slide149.xml"/><Relationship Id="rId98" Type="http://schemas.openxmlformats.org/officeDocument/2006/relationships/slide" Target="slides/slide150.xml"/><Relationship Id="rId99" Type="http://schemas.openxmlformats.org/officeDocument/2006/relationships/slide" Target="slides/slide151.xml"/><Relationship Id="rId100" Type="http://schemas.openxmlformats.org/officeDocument/2006/relationships/slide" Target="slides/slide152.xml"/><Relationship Id="rId101" Type="http://schemas.openxmlformats.org/officeDocument/2006/relationships/slide" Target="slides/slide153.xml"/><Relationship Id="rId102" Type="http://schemas.openxmlformats.org/officeDocument/2006/relationships/notesMaster" Target="notesMasters/notesMaster1.xml"/><Relationship Id="rId103" Type="http://schemas.openxmlformats.org/officeDocument/2006/relationships/presProps" Target="presProps.xml"/><Relationship Id="rId104" Type="http://schemas.openxmlformats.org/officeDocument/2006/relationships/viewProps" Target="viewProps.xml"/><Relationship Id="rId105" Type="http://schemas.openxmlformats.org/officeDocument/2006/relationships/theme" Target="theme/theme1.xml"/><Relationship Id="rId106" Type="http://schemas.openxmlformats.org/officeDocument/2006/relationships/tableStyles" Target="tableStyles.xml"/><Relationship Id="rId107" Type="http://schemas.openxmlformats.org/officeDocument/2006/relationships/slide" Target="slides/slide92.xml"/><Relationship Id="rId108" Type="http://schemas.openxmlformats.org/officeDocument/2006/relationships/slide" Target="slides/slide93.xml"/><Relationship Id="rId109" Type="http://schemas.openxmlformats.org/officeDocument/2006/relationships/slide" Target="slides/slide94.xml"/><Relationship Id="rId110" Type="http://schemas.openxmlformats.org/officeDocument/2006/relationships/slide" Target="slides/slide95.xml"/><Relationship Id="rId111" Type="http://schemas.openxmlformats.org/officeDocument/2006/relationships/slide" Target="slides/slide96.xml"/><Relationship Id="rId112" Type="http://schemas.openxmlformats.org/officeDocument/2006/relationships/slide" Target="slides/slide97.xml"/><Relationship Id="rId113" Type="http://schemas.openxmlformats.org/officeDocument/2006/relationships/slide" Target="slides/slide98.xml"/><Relationship Id="rId114" Type="http://schemas.openxmlformats.org/officeDocument/2006/relationships/slide" Target="slides/slide99.xml"/><Relationship Id="rId115" Type="http://schemas.openxmlformats.org/officeDocument/2006/relationships/slide" Target="slides/slide103.xml"/><Relationship Id="rId116" Type="http://schemas.openxmlformats.org/officeDocument/2006/relationships/slide" Target="slides/slide104.xml"/><Relationship Id="rId117" Type="http://schemas.openxmlformats.org/officeDocument/2006/relationships/slide" Target="slides/slide105.xml"/><Relationship Id="rId118" Type="http://schemas.openxmlformats.org/officeDocument/2006/relationships/slide" Target="slides/slide106.xml"/><Relationship Id="rId119" Type="http://schemas.openxmlformats.org/officeDocument/2006/relationships/slide" Target="slides/slide107.xml"/><Relationship Id="rId120" Type="http://schemas.openxmlformats.org/officeDocument/2006/relationships/slide" Target="slides/slide108.xml"/><Relationship Id="rId121" Type="http://schemas.openxmlformats.org/officeDocument/2006/relationships/slide" Target="slides/slide109.xml"/><Relationship Id="rId122" Type="http://schemas.openxmlformats.org/officeDocument/2006/relationships/slide" Target="slides/slide110.xml"/><Relationship Id="rId123" Type="http://schemas.openxmlformats.org/officeDocument/2006/relationships/slide" Target="slides/slide46.xml"/><Relationship Id="rId124" Type="http://schemas.openxmlformats.org/officeDocument/2006/relationships/slide" Target="slides/slide47.xml"/><Relationship Id="rId125" Type="http://schemas.openxmlformats.org/officeDocument/2006/relationships/slide" Target="slides/slide48.xml"/><Relationship Id="rId126" Type="http://schemas.openxmlformats.org/officeDocument/2006/relationships/slide" Target="slides/slide49.xml"/><Relationship Id="rId127" Type="http://schemas.openxmlformats.org/officeDocument/2006/relationships/slide" Target="slides/slide50.xml"/><Relationship Id="rId128" Type="http://schemas.openxmlformats.org/officeDocument/2006/relationships/slide" Target="slides/slide51.xml"/><Relationship Id="rId129" Type="http://schemas.openxmlformats.org/officeDocument/2006/relationships/slide" Target="slides/slide52.xml"/><Relationship Id="rId130" Type="http://schemas.openxmlformats.org/officeDocument/2006/relationships/slide" Target="slides/slide53.xml"/><Relationship Id="rId131" Type="http://schemas.openxmlformats.org/officeDocument/2006/relationships/slide" Target="slides/slide54.xml"/><Relationship Id="rId132" Type="http://schemas.openxmlformats.org/officeDocument/2006/relationships/slide" Target="slides/slide55.xml"/><Relationship Id="rId133" Type="http://schemas.openxmlformats.org/officeDocument/2006/relationships/slide" Target="slides/slide56.xml"/><Relationship Id="rId134" Type="http://schemas.openxmlformats.org/officeDocument/2006/relationships/slide" Target="slides/slide57.xml"/><Relationship Id="rId135" Type="http://schemas.openxmlformats.org/officeDocument/2006/relationships/slide" Target="slides/slide58.xml"/><Relationship Id="rId136" Type="http://schemas.openxmlformats.org/officeDocument/2006/relationships/slide" Target="slides/slide59.xml"/><Relationship Id="rId137" Type="http://schemas.openxmlformats.org/officeDocument/2006/relationships/slide" Target="slides/slide60.xml"/><Relationship Id="rId138" Type="http://schemas.openxmlformats.org/officeDocument/2006/relationships/slide" Target="slides/slide61.xml"/><Relationship Id="rId139" Type="http://schemas.openxmlformats.org/officeDocument/2006/relationships/slide" Target="slides/slide62.xml"/><Relationship Id="rId173" Type="http://schemas.openxmlformats.org/officeDocument/2006/relationships/slide" Target="slides/slide154.xml"/><Relationship Id="rId174" Type="http://schemas.openxmlformats.org/officeDocument/2006/relationships/slide" Target="slides/slide155.xml"/><Relationship Id="rId175" Type="http://schemas.openxmlformats.org/officeDocument/2006/relationships/slide" Target="slides/slide156.xml"/><Relationship Id="rId176" Type="http://schemas.openxmlformats.org/officeDocument/2006/relationships/slide" Target="slides/slide157.xml"/><Relationship Id="rId177" Type="http://schemas.openxmlformats.org/officeDocument/2006/relationships/slide" Target="slides/slide158.xml"/><Relationship Id="rId178" Type="http://schemas.openxmlformats.org/officeDocument/2006/relationships/slide" Target="slides/slide159.xml"/><Relationship Id="rId179" Type="http://schemas.openxmlformats.org/officeDocument/2006/relationships/slide" Target="slides/slide160.xml"/><Relationship Id="rId180" Type="http://schemas.openxmlformats.org/officeDocument/2006/relationships/slide" Target="slides/slide161.xml"/><Relationship Id="rId181" Type="http://schemas.openxmlformats.org/officeDocument/2006/relationships/slide" Target="slides/slide162.xml"/><Relationship Id="rId182" Type="http://schemas.openxmlformats.org/officeDocument/2006/relationships/slide" Target="slides/slide163.xml"/><Relationship Id="rId183" Type="http://schemas.openxmlformats.org/officeDocument/2006/relationships/slide" Target="slides/slide164.xml"/><Relationship Id="rId184" Type="http://schemas.openxmlformats.org/officeDocument/2006/relationships/slide" Target="slides/slide165.xml"/><Relationship Id="rId185" Type="http://schemas.openxmlformats.org/officeDocument/2006/relationships/slide" Target="slides/slide166.xml"/><Relationship Id="rId186" Type="http://schemas.openxmlformats.org/officeDocument/2006/relationships/slide" Target="slides/slide167.xml"/><Relationship Id="rId187" Type="http://schemas.openxmlformats.org/officeDocument/2006/relationships/slide" Target="slides/slide168.xml"/><Relationship Id="rId188" Type="http://schemas.openxmlformats.org/officeDocument/2006/relationships/slide" Target="slides/slide169.xml"/><Relationship Id="rId189" Type="http://schemas.openxmlformats.org/officeDocument/2006/relationships/slide" Target="slides/slide170.xml"/><Relationship Id="rId190" Type="http://schemas.openxmlformats.org/officeDocument/2006/relationships/slide" Target="slides/slide171.xml"/><Relationship Id="rId191" Type="http://schemas.openxmlformats.org/officeDocument/2006/relationships/slide" Target="slides/slide172.xml"/><Relationship Id="rId192" Type="http://schemas.openxmlformats.org/officeDocument/2006/relationships/slide" Target="slides/slide173.xml"/><Relationship Id="rId193" Type="http://schemas.openxmlformats.org/officeDocument/2006/relationships/slide" Target="slides/slide174.xml"/><Relationship Id="rId194" Type="http://schemas.openxmlformats.org/officeDocument/2006/relationships/slide" Target="slides/slide175.xml"/><Relationship Id="rId195" Type="http://schemas.openxmlformats.org/officeDocument/2006/relationships/slide" Target="slides/slide176.xml"/><Relationship Id="rId196" Type="http://schemas.openxmlformats.org/officeDocument/2006/relationships/slide" Target="slides/slide177.xml"/><Relationship Id="rId197" Type="http://schemas.openxmlformats.org/officeDocument/2006/relationships/slide" Target="slides/slide178.xml"/><Relationship Id="rId198" Type="http://schemas.openxmlformats.org/officeDocument/2006/relationships/slide" Target="slides/slide179.xml"/><Relationship Id="rId199" Type="http://schemas.openxmlformats.org/officeDocument/2006/relationships/slide" Target="slides/slide180.xml"/><Relationship Id="rId200" Type="http://schemas.openxmlformats.org/officeDocument/2006/relationships/slide" Target="slides/slide181.xml"/><Relationship Id="rId201" Type="http://schemas.openxmlformats.org/officeDocument/2006/relationships/slide" Target="slides/slide182.xml"/><Relationship Id="rId202" Type="http://schemas.openxmlformats.org/officeDocument/2006/relationships/slide" Target="slides/slide183.xml"/><Relationship Id="rId203" Type="http://schemas.openxmlformats.org/officeDocument/2006/relationships/slide" Target="slides/slide184.xml"/><Relationship Id="rId204" Type="http://schemas.openxmlformats.org/officeDocument/2006/relationships/slide" Target="slides/slide185.xml"/><Relationship Id="rId205" Type="http://schemas.openxmlformats.org/officeDocument/2006/relationships/slide" Target="slides/slide186.xml"/><Relationship Id="rId206" Type="http://schemas.openxmlformats.org/officeDocument/2006/relationships/slide" Target="slides/slide18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648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kernel/user-space split — it explains why 'root' and drivers matter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26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Layers in a Linux System. The C library is the boundary to the kernel.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'What is Linux?' — Linux is the kernel; a distribution adds the userland to make an 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this course we standardise on a Debian/Ubuntu-style system; the board runs a Yocto/Debian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4489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boot a VM live if time permits. Point out the boot stages — we revisit them for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45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'Almost everything in Unix is a file' — why we later control devices with cat/echo.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Filenames. 'file' reads the magic number to know the real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File Paths. A leading / means 'start at the root'.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GNU/Linux Filesystem Structure (1).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GNU/Linux Filesystem Structure (2).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GNU/Linux Filesystem Structure (3).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Command-Line Interpreters.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Command Help. '-' short options, '--' long options.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Manual Pages. Sections matter: printf is a command (1) and a C function (3).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ls Command. Options combine: -ltr = long + by time + reversed.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Filename Pattern Substitutions.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Special Directories. './' runs a program that isn't on your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The cd and pwd Commands.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The cp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The mv and rm Commands. There is no undo — use -i while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Creating and Removing Directories. rmdir refuses non-empty dirs.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Displaying File Contents. 'less does more than more with less.'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Full Control Over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Processes.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Running Jobs in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Background Job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Listing All Processes.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Live Process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Killing Processes. Try SIGTERM before the -9 hammer.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Environment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Shell Variables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dialout group — students need it to reach /dev/ttyUSB0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16168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decoding -rwxr-xr-- live, then convert to 754. This is the crux of the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4079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student bug: forgetting chmod +x, then './script.sh: Permission denied'.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3485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back: wrong ownership on /var/www or a serial device is a classic 'why won't it work'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7309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'sudo' beats 'su -': least privilege, and every sudo is logged.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94515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Symlinks are everywhere in Linux — /usr/bin, versioned libraries, config in /etc.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0066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Mnemonic for create: 'Compress Ze Vole File' → czvf. We reuse tar in the BASH backup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712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 runs live (accurate, slower); locate reads an index (fast, may be stale). Show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08790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Standard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Standard Output Redirection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Standard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Pipes. 'One of the most powerful features in Unix shells.'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Standard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Special Devices (1).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Special Devices (2).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Shutting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Mounting Devices (1).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Listing Mounted Filesystems.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Unmounting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Network Setup (1). (Modern systems use 'ip addr'.)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Network Setup (2).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Name Resolution.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Network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Using VMWare image. Handy in the course VM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Proc File System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Using a proc File. How drivers expose knobs to user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Proc File System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Sysfs.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Using SysFS.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Linux Boot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Root File System Options. Type is set in kernel config or the boot loader command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init — the First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inittab (the source slide had only a title; expanded minimally).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You'll write a systemd unit to auto-start your project tool on the board (final project).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apt update before install. On the board, packages may come from a custom feed.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journalctl is the first place to look when a service won't start. Practise the filters.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Embedded boards have tiny storage — df/du save you from a full-disk outage.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mindset: small sharp tools, joined by pipes, beat one giant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grep is the single most-used text tool. -i, -r, -n cover 90% of daily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simple: anchors, classes, and * cover most needs. Depth comes with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without -i first (safe preview), then with -i to actually change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$1..$N are fields, $0 the whole line, NR the row number. awk is a language — show its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sort | uniq -c | sort -rn is the classic 'top N' idiom. Memorise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it one stage at a time on screen: add a pipe, re-run, watch the output narrow.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shift: the skills transfer, the environment gets smaller and headless.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/proc and /dev tell you the board's identity and its available interfaces.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 confirms the architecture. Python (Module 2) skips this — it's interpreted, not compiled.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U-Boot is the embedded equivalent of GRUB. You often watch this scroll over the serial console.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an SSH key in the lab — you'll SSH to the board constantly in the final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Serial shows the whole boot log, including U-Boot — SSH can't. Essential for debugging bring-up.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Hammer the lsblk-first habit. Recommend Raspberry Pi Imager for beginners over raw 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'everything is a file' matters — controlling an LED is just echo to a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rsync only sends changes — much faster than scp for repeated deploys. This closes the loop for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554480"/>
            <a:ext cx="4754880" cy="3749040"/>
          </a:xfrm>
          <a:prstGeom prst="roundRect">
            <a:avLst>
              <a:gd name="adj" fmla="val 243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059168" y="1755648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269480" y="1755648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79792" y="1755648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059168" y="2148840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user@embedded</a:t>
            </a: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module1.txt
</a:t>
            </a: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from zero to
embedded hardware.
</a:t>
            </a: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user@embedded</a:t>
            </a: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./begin.sh
</a:t>
            </a: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8 units · 70 hours
</a:t>
            </a: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teaching mode </a:t>
            </a:r>
            <a:r>
              <a:rPr lang="en-US" sz="13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█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CLASS EDITION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6596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Foundations</a:t>
            </a:r>
            <a:endParaRPr lang="en-US" sz="40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Embedded Targets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4048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· Tools · BASH Scripting · Embedded Linux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4340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teaching deck — explanations &amp; live examples for every topic.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6126480" cy="640080"/>
          </a:xfrm>
          <a:prstGeom prst="roundRect">
            <a:avLst>
              <a:gd name="adj" fmla="val 14286"/>
            </a:avLst>
          </a:prstGeom>
          <a:solidFill>
            <a:srgbClr val="132840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48920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Linux, Python &amp; Networking  —  250-Hour Program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1.1 · INTRODUCTION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Linux?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open-source, Unix-like operating system: a kernel plus the tools built around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that manages CPU, memory, devices &amp; files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space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shell, commands and apps you interact with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run, read, and modify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everywhere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Servers, phones, cars, routers, embedded boards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am I running?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uname -sr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6.1.0-armv7l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/etc/os-release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NAME="Debian GNU/Linux"
VERSION="12 (bookworm)"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uptime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14:02  up 3 days,  load 0.08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48383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in a Linux system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programs down to the hardware, Linux is organised in layers.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programs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applications you run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&amp; application libraries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shared, reusable code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library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 to the kernel (system calls)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&amp; modules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the hardware directly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links what?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ldd /bin/ls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libc.so.6 =&gt; /lib/libc.so.6
ld-linux.so =&gt; ...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/lib/modules/$(uname -r)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  modules.dep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Linux?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kernel implementing the POSIX and Single Unix Specification standards — the foundation of a complete 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distribution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plus programs &amp; libraries = a full 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distributions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high-end servers to tiny embedded systems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common interface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thanks to the LSB standard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everywhere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platforms — super-clusters to cellphones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lineage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kernel first released 1991
# built on 1970s Unix design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uname -o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GNU/Linux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uname -r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6.1.0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1.1 · INTRODUCTION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distributions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'distro' bundles the same Linux kernel with a package manager, tools, and defaults.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Debian / Ubuntu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packages — popular and beginner-friendly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Fedora / RHEL / CentOS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dnf or yum — common in enterprise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 / Alpine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minimal; Alpine is tiny, great for containers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/ Buildroot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custom distro for an embedded device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kernel, different clothes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lsb_release -d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Ubuntu 22.04 LTS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/etc/debian_version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12.4
# the kernel is shared;
# tools &amp; defaults differ
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78929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1.1 · INTRODUCTION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&amp; booting Linux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safest way to learn is inside a virtual machine or WSL — no risk to your PC.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/ VMware — a full PC in a window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 (Windows)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Linux inside Windows, no reboot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USB / dual-boot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or install on real hardware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stages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→ bootloader → kernel → login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fast did we boot?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systemd-analyze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Startup finished in
 1.9s (kernel) + 4.2s (userspace)
 = 6.1s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who -b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 boot  2026-09-16 09:12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52233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a file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Unix almost every resource is exposed as a file you can open, read and write.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files &amp; directories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directory just lists other files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links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that names another file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&amp; peripherals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hardware like a file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 &amp; sockets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programs / inter-process comms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 of every kind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*.log | grep error
$ ls -l /dev/sda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brw-rw---- 1 root disk sda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 /usr/bin/vi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lrwxrwxrwx vi -&gt; vim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 filename rules — flexible since the very beginning.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29968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96596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sensitive  (README ≠ readme)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578608"/>
            <a:ext cx="146304" cy="146304"/>
          </a:xfrm>
          <a:prstGeom prst="ellipse">
            <a:avLst/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14400" y="251460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obvious length limit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14400" y="306324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character except  /  (even spaces)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146304" cy="146304"/>
          </a:xfrm>
          <a:prstGeom prst="ellipse">
            <a:avLst/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14400" y="361188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 stored inside the file (‘magic numbers’)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224528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14400" y="416052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are convention, not required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 &amp; types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  .bashrc  'My Notes'
index.html  index.html.old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file README
</a:t>
            </a: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README: ASCII text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paths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5544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56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directories separated by  /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3957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974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documents/fun/jokes.html — from the current dir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2369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387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/home/bill/report.txt — from the root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056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05840" y="407822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(root)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37997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of every absolute path on the system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relative vs absolute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pwd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/home/bill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documents/notes.txt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relative to /home/bill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/etc/hostname
</a:t>
            </a: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board01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hierarchy (1)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so systems look alike — though not enforced by the kernel.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3657600"/>
          </a:xfrm>
          <a:prstGeom prst="roundRect">
            <a:avLst>
              <a:gd name="adj" fmla="val 1750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7899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261872" y="2093976"/>
            <a:ext cx="10177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essential top-level directories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1109167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86384" y="2514600"/>
            <a:ext cx="1065276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         </a:t>
            </a: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directory
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/bin/      </a:t>
            </a: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basic, essential system commands
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/boot/     </a:t>
            </a: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 images, initrd, configuration
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      </a:t>
            </a: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 representing devices (e.g. /dev/hda)
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      </a:t>
            </a: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configuration files
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     </a:t>
            </a: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home directories
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/lib/      </a:t>
            </a: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 system shared libraries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hierarchy (2)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4023360"/>
          </a:xfrm>
          <a:prstGeom prst="roundRect">
            <a:avLst>
              <a:gd name="adj" fmla="val 1591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899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261872" y="1682496"/>
            <a:ext cx="10177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&amp; admin directories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993392"/>
            <a:ext cx="1109167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86384" y="2103120"/>
            <a:ext cx="1065276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/lost+found </a:t>
            </a: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 recovered after a crash
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/media/     </a:t>
            </a: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mounted removable filesystems (usb, cd)
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/mnt/       </a:t>
            </a: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temporary mount points
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/opt/       </a:t>
            </a: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add-on tools installed by the sysadmin
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      </a:t>
            </a: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system info (/proc/cpuinfo ...)
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/root/      </a:t>
            </a: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root user's home directory
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/sbin/      </a:t>
            </a: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administrator-only commands
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/sys/       </a:t>
            </a: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&amp; kernel controls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hierarchy (3)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3291840"/>
          </a:xfrm>
          <a:prstGeom prst="roundRect">
            <a:avLst>
              <a:gd name="adj" fmla="val 1944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899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261872" y="1682496"/>
            <a:ext cx="10177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data &amp; variable data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993392"/>
            <a:ext cx="1109167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86384" y="2103120"/>
            <a:ext cx="1065276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/tmp/        </a:t>
            </a: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temporary files
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/usr/        </a:t>
            </a: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regular user tools (bin, lib, sbin)
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/usr/local/  </a:t>
            </a: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software installed by the sysadmin
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/var/        </a:t>
            </a: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that changes as the system runs
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/var/log/    </a:t>
            </a: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files
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/var/spool/  </a:t>
            </a: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 &amp; print queues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SHELLS &amp; FILE HANDLING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interpreters (shells)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shell executes your commands — hiding the OS details behind a simple interface.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terminal in, text out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graphics required at all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‘Shell’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wraps the OS like a shell/skin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Scriptable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conditionals, loops — full programs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bash, sh, dash, zsh, busybox ash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shell am I in?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$SHELL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/bin/bash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bash --version | head -1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GNU bash, version 5.1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SHELLS &amp; FILE HANDLING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help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5544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-h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56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help (1-character option)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3957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--help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974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long, standard help option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2369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argument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387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prints a usage summary too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self-service help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--help | head -3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Usage: ls [OPTION]... [FILE]
  -a  do not ignore .hidden
  -l  long listing format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SHELLS &amp; FILE HANDLING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pages (man)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[section] &lt;keyword&gt; — the built-in reference for commands, files and functions.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fork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fork() system call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fstab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fstab configuration file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3 printf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printf() library function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-k keyword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across all man pages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the manual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man 3 printf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PRINTF(3) Library Functions
NAME printf - formatted output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man -k socket | head -1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 (2) - create an endpoint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SHELLS &amp; FILE HANDLING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ls command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directory contents — alphabetical by default, hiding .dotfiles.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files, including .hidden ones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long: type, date, size, owner, perms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  /  -S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time / by size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the sort order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combine the options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-ltr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-rw-r--r-- 1 pi 20 Sep 15 old.txt
-rw-r--r-- 1 pi 84 Sep 16 new.txt
# long, oldest first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SHELLS &amp; FILE HANDLING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 patterns (globbing)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shell expands patterns into matching names before the command runs.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*txt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ending in txt (incl. .txt)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.*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starting with a dot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?.log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character, then .log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ls not to list dir contents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patterns in action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*txt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notes.txt report.txt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-d .*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 ..  .bashrc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?.log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a.log  b.log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SHELLS &amp; FILE HANDLING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directories:  .  and  ..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5544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56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directory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3957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./program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974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program in the current dir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2369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../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387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(enclosing) directory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056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05840" y="407822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..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37997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up one level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here and above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./readme.txt   # = readme.txt
$ ./build.sh     # run local script
$ cd ..
$ pwd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SHELLS &amp; FILE HANDLING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and pwd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5544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&lt;dir&gt;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56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current directory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3957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pwd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974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working directory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2369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 ~  /  cd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387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to your home directory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056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05840" y="407822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-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37997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the previous directory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moving &amp; checking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/var/log
$ pwd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/var/log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
$ pwd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/home/pi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SHELLS &amp; FILE HANDLING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 command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5544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src dst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56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file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3957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f1 f2 ... dir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974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files into a directory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2369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387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before overwriting (interactive)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056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05840" y="407822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37997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whole directory (recursive)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report.txt report.bak
$ cp a.txt b.txt notes/
$ cp -r project/ backup/
$ cp -i a.txt b.txt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overwrite b.txt? (y/n)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SHELLS &amp; FILE HANDLING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 and rm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5544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 old new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56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or move a file/dir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3957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f1 f2 ...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974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files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2369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387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confirmation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056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05840" y="407822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-r dir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37997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directory &amp; its contents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&amp; delete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mv draft.txt final.txt
$ mv final.txt docs/
$ rm -i temp.txt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 temp.txt? y
</a:t>
            </a:r>
            <a:r>
              <a:rPr lang="en-US" sz="12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rm -r build/   # careful!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SHELLS &amp; FILE HANDLING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&amp; removing directories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5544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mkdir d1 d2 ...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56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directories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3957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rmdir d1 d2 ...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974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empty directories (safe)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2369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-r dir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387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non-empty directory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056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05840" y="407822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mkdir -p a/b/c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37997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nested paths at once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directory basics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-p project/src
$ rmdir project/src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only works if empty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rm -r project
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SHELLS &amp; FILE HANDLING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Displaying file contents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5544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f1 f2 ...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56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&amp; dump contents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3957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974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through; / to search forward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2369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387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more — scroll both ways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056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05840" y="407822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advantage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37997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read the whole file first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files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notes.txt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one
line two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less /var/log/syslog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↑↓ scroll, / search, q quit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CONTROL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tasks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day one, Unix has supported true pre-emptive multitasking.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many tasks at once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parallel execution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 any task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it corrupts its own data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what runs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with what priority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input &amp; output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where data flows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CONTROL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“Everything in Unix that is not a file is a process.”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instance of a running program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instances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program can run several times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has data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files, memory, PID, parent, state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 the kernel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&amp; scheduling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process has identity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$$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2417  # this shell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ps -o pid,ppid,stat,cmd -p $$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2417 2410 Ss /bin/bash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CONTROL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jobs in the background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at the end of a command to run it in the background.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jobs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them run; check output later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apps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launch, then keep using the shell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everywhere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works in every shell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 a task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./process_data.sh &amp;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4021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# shell is free again
$ firefox &amp;
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CONTROL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 control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5544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56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background jobs of this shell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3957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  /  fg %n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974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(nth) job to the foreground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2369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Ctrl+Z  then  bg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387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suspend, then resume in background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056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05840" y="407822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%n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37997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 the nth job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juggling jobs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jobs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[1]- Running ./a.sh
[2]+ Running ./b.sh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fg %1
^Z
$ bg
$ kill %2
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CONTROL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all processes (ps)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aux (procps) or ps (Busybox) lists processes from every shell.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VSZ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size (code + data + stack)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size — KB actually in RAM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run, S sleep, Z zombie, T traced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aux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 PID %CPU %MEM  RSS STAT CMD
bart 3039 0.0 0.2 1380 S /bin/bash
bart 3416 0.0 0.0    0 R [bash]
</a:t>
            </a: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ps aux | grep python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CONTROL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process activity (top)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shows the busiest processes, refreshing live and sorted by CPU.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average, tasks, CPU, memory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keys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memory, P %CPU, T time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a task by PID from within top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- 15:44  load 0.98 0.61
Tasks: 81  5 running
PID USER %CPU %MEM CMD
3809 jdoe 93.8 0.8 bunzip2
2769 root  2.7 16.0 X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CONTROL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Killing processes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5544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&lt;pids&gt;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56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 SIGTERM — lets it save &amp; exit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3957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-9 &lt;pids&gt;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974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SIGKILL — forced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2369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killall &lt;cmd&gt;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387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all processes running &lt;cmd&gt;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stopping processes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kill 3039 3134 3190
$ kill -9 3416   # if unresponsive
$ killall bash
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CONTROL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5544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variables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56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to the shell — lower-case by convention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3957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974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scripts/programs — UPPER-CASE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2369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387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a variable to the environment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056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05840" y="407822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37997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environment variables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 vs environment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projdir=/home/me/proj
$ echo $projdir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/home/me/proj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export DEBUG=1
$ env | grep DEBUG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DEBUG=1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CONTROL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in practice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5544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 path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56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it once, use it many times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3957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$HOME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974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 directory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2369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DEBUG=1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387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a program's debug output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projdir=/home/marshall/coolstuff
$ ls -la $projdir; cd $projdir
$ cd $HOME
$ export DEBUG=1
$ ./find_extraterrestrial_life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[debug] scanning...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1.3 · PERMISSIONS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groups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5544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has an owner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56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and one group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3957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974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all-powerful admin (uid 0)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2369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/etc/passwd, /etc/group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387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accounts are defined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056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05840" y="407822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whoami · groups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37997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who you are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am I?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whoami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id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uid=1000(student)
gid=1000(student)
groups=1000,27(sudo),20(dialout)
</a:t>
            </a: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dialout = serial access!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769352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1.3 · PERMISSIONS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rwx permission model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shows 10 characters: a type, then three groups of read / write / execute.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76072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219456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49808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3230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file's contents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576072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9808" y="3154680"/>
            <a:ext cx="457200" cy="457200"/>
          </a:xfrm>
          <a:prstGeom prst="ellipse">
            <a:avLst/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49808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063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3924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or delete the file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576072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9808" y="4114800"/>
            <a:ext cx="457200" cy="457200"/>
          </a:xfrm>
          <a:prstGeom prst="ellipse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023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35254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as a program / enter a dir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766560" y="2011680"/>
            <a:ext cx="4846320" cy="2880360"/>
          </a:xfrm>
          <a:prstGeom prst="roundRect">
            <a:avLst>
              <a:gd name="adj" fmla="val 3175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040880" y="22128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AN EXAMPLE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25146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32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rwx</a:t>
            </a:r>
            <a:r>
              <a:rPr lang="en-US" sz="320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r-x</a:t>
            </a:r>
            <a:r>
              <a:rPr lang="en-US" sz="32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r--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32461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3246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file (d = directory)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363016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rwx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36301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read, write, execute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401421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r-x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863840" y="40142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read + execute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439826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r--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43982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read only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Numeric shorthand:  r=4  w=2  x=1   →   rwx = 7,  r-x = 5,  r-- = 4   →   754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364974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1.3 · PERMISSIONS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— changing permissions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permissions numerically (r=4, w=2, x=1) or symbolically (+ / - / =).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755 file  →  rwxr-xr-x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+x script.sh  (add execute)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u=user g=group o=others a=all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of thumb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644 for files, 755 for dirs &amp; scripts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a script runnable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 deploy.sh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-rw-r--r-- 1 pi pi deploy.sh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+x deploy.sh
$ ls -l deploy.sh
</a:t>
            </a: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-rwxr-xr-x 1 pi pi deploy.sh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640 secrets.conf
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675627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1.3 · PERMISSIONS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chown &amp; chgrp — ownership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55448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chown user file  — change owner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67128"/>
            <a:ext cx="146304" cy="146304"/>
          </a:xfrm>
          <a:prstGeom prst="ellipse">
            <a:avLst/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210312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chown user:group file  — owner + group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14400" y="265176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chgrp group file  — change group only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146304" cy="146304"/>
          </a:xfrm>
          <a:prstGeom prst="ellipse">
            <a:avLst/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14400" y="320040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  — apply recursively to a directory tree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813048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14400" y="374904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needs sudo (you can't give away others' files)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fixing ownership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chown root:root /etc/app.conf
$ sudo chown -R www:www /var/www
$ ls -l /var/www
</a:t>
            </a: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drwxr-xr-x www www html
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401459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1.3 · PERMISSIONS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&amp; root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one command with admin rights — far safer than logging in as root all day.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command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single command as root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-i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 interactive root shell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/etc/sudoers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who may use sudo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great power…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typo as root can wipe a system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elevating carefully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apt install htop
</a:t>
            </a:r>
            <a:r>
              <a:rPr lang="en-US" sz="12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E: Permission denied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apt install htop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[sudo] password for student:
</a:t>
            </a: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 up htop ... done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systemctl restart ssh
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721310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1.3 · PERMISSIONS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Links: symbolic vs. hard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5544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link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56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name for the exact same data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3957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(soft) link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974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pointer to another path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2369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 target link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387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hard link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056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05840" y="407822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 -s target link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37997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symbolic link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symlink a tool onto PATH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ln -s /opt/app/bin/tool \
       /usr/local/bin/tool
$ ls -l /usr/local/bin/tool
</a:t>
            </a: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-&gt; /opt/app/bin/tool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tool --version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1.4.0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940075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1.3 · PERMISSIONS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Archiving: tar &amp; gzip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many files into one archive, and compress it to save space.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 -cvf a.tar dir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archive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 -xvf a.tar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an archive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 -czvf a.tgz dir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+ gzip in one step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create, x extract, z gzip, v verbose, f file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 up the logs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tar -czvf logs.tgz /var/log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/var/log/syslog
/var/log/auth.log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-lh logs.tgz
</a:t>
            </a: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-rw-r--r-- 2.3M logs.tgz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tar -xzvf logs.tgz
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846071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1.3 · PERMISSIONS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files: find &amp; locate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55448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PATH -name "*.log"  — by name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67128"/>
            <a:ext cx="146304" cy="146304"/>
          </a:xfrm>
          <a:prstGeom prst="ellipse">
            <a:avLst/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210312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. -type f -mtime -1  — changed in last day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14400" y="265176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. -size +10M  — larger than 10 MB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146304" cy="146304"/>
          </a:xfrm>
          <a:prstGeom prst="ellipse">
            <a:avLst/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14400" y="320040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. -name '*.tmp' -delete  — act on matches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813048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14400" y="374904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NAME  — instant, from an index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hunting files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find /var -name "*.log"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/var/log/syslog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find . -type f -mtime -7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./report.txt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find . -name '*.tmp' -delete
$ locate sshd_config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/etc/ssh/sshd_config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951640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 &amp; DEVICES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output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write their results to standard output — which you can redirect to a file.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file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output (overwrite)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file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output to a file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command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rule works everywhere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capturing output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&gt; files.txt
$ date &gt;&gt; files.txt
$ cat files.txt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a.txt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b.txt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Wed Sep 16 ...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 &amp; DEVICES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redirection examples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5544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a &gt; b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56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a's contents into b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3957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a &gt;&gt; b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974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a to b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2369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text &gt; file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387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file with no editor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building files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obiwan.txt &gt; bios.txt
$ cat han_solo.txt &gt;&gt; bios.txt
$ echo "hello" &gt; README
$ cat README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 &amp; DEVICES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input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commands, given no file, read from standard input instead.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file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input from a file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input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then end with Ctrl+D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filter that reads stdin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feeding input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sort &lt; participants.txt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
windows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sort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
linux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^D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 &amp; DEVICES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one command's standard output straight into another's standard input.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two commands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freely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many stages as you like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/ sort / uniq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usual companions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Unix superpower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tools, combined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chaining commands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*.txt | less
$ cat *.log | grep -i error | sort
$ grep -ri error . \
   | grep -v "ignored" \
   | sort -u &gt; serious.log
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 &amp; DEVICES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Well-behaved programs send errors to standard error (fd 2), separate from output (fd 1).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2&gt;  /  2&gt;&gt;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(append) errors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1&gt; = &gt;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1 is standard output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&amp;&gt;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output and errors together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separating streams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f1 f2 nofile &gt; out 2&gt; err
$ cat err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cat: nofile: No such file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f1 f2 nofile &amp;&gt; all
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REFERENCE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— select columns &amp; fields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chosen columns from each line — by field (with a delimiter) or by character position.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  -f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split by a delimiter (default TAB)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by character position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-d','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delimiter (e.g. CSV)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--complement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everything except the selection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 fields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cut -d: -f1 /etc/passwd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
daemon
bin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cut -d, -f2 data.csv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cut -c1-5 names.txt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first 5 characters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REFERENCE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— schedule a one-time job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command once at a future time (cron is for recurring jobs).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TIME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schedule; type commands, end with Ctrl+D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atq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pending jobs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atrm 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job number 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formats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'now + 5 min', 10:30, tomorrow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 for later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at now + 5 minutes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at&gt; ./backup.sh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at&gt;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&lt;Ctrl+D&gt;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 7 at Wed 10:30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atq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Wed 10:30 a user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atrm 7</a:t>
            </a:r>
            <a:endParaRPr lang="en-US" sz="12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REFERENCE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— command-line calculator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arbitrary-precision calculator language — perfect for real math in the shell.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expr | bc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 expression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scale=N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decimal places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library (sqrt, s, c, a, l)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 by default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scale for decimals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the math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"3 + 4 * 2" | bc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"scale=3; 22/7" | bc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3.142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"sqrt(2)" | bc -l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1.41421356237309504880</a:t>
            </a:r>
            <a:endParaRPr lang="en-US" sz="12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REFERENCE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 — compare two sorted files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sorted files line by line and show the result in three columns.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 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only in file1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 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only in file2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 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in both files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 cols 1 &amp; 2 → common lines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is in both?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comm a.txt b.txt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
	banana
		cherry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comm -12 a.txt b.txt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cherry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both files MUST be sorted</a:t>
            </a:r>
            <a:endParaRPr lang="en-US" sz="12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REFERENCE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— compare files line by line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changes needed to turn the first file into the second.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-u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format (used by patches)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directories recursively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case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view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changed?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diff old.txt new.txt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2c2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hello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Hello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diff -u old new &gt; change.patch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apply later with: patch &lt; change.patch</a:t>
            </a:r>
            <a:endParaRPr lang="en-US" sz="12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REFERENCE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— disk free space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used and available space for each mounted filesystem.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sizes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show the filesystem type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inodes instead of blocks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PATH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the fs holding PATH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the disk full?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df -h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Filesystem Size Used Avail Use%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/dev/root  15G  6.0G 8.4G 42% /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tmpfs     900M   0   900M  0% /run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df -h /home</a:t>
            </a:r>
            <a:endParaRPr lang="en-US" sz="12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REFERENCE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— directory disk usage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how much space files and directories actually consume.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total only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--max-depth=1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level down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sort -h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size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eating space?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du -sh /var/log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210M /var/log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du -h --max-depth=1 /home \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sort -h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1.2G /home/pi
3.4G /home/dev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du -sh *</a:t>
            </a:r>
            <a:endParaRPr lang="en-US" sz="12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REFERENCE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— identify a file's type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a file's type from its content (magic numbers), not its name or extension.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X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type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-i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MIME type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— omit the filename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 file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binary, image, archive …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file script.sh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script.sh: Bourne-Again shell script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file photo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photo: JPEG image data, 1920x1080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file -i notes.txt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text/plain; charset=utf-8</a:t>
            </a:r>
            <a:endParaRPr lang="en-US" sz="12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REFERENCE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— wrap lines to width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each input line so it fits within a given number of columns.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-w 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at N columns (default 80)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at spaces, not mid-word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bytes rather than columns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text to a narrow display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 long text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"a very long sentence here" \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fold -s -w 10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very
long
sentence
here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fold -w 40 README.txt</a:t>
            </a:r>
            <a:endParaRPr lang="en-US" sz="12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REFERENCE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&amp; tail — top and bottom of a file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first (head) or last (tail) part of a file or stream.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-n 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N lines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 -n 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N lines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 -f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 file as it grows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 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bytes instead of lines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peek at the ends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head -n 3 /etc/passwd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root:...
daemon:...
bin:...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tail -n 2 app.log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09:41 ok
09:42 ok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tail -f /var/log/syslog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streams new lines live</a:t>
            </a:r>
            <a:endParaRPr lang="en-US" sz="12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REFERENCE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— join files on a key field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lines from two sorted files that share a common key — like a database join.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 N  -2 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 in file1 / file2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-t','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field separator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keep unpaired lines of file1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 sorted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join key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on a key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ids;  cat salary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avi     1 5000
2 dani    2 6000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join ids salary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avi 5000
2 dani 6000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joined on field 1</a:t>
            </a:r>
            <a:endParaRPr lang="en-US" sz="12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REFERENCE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— dump bytes (octal / hex)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file's raw bytes — ideal for binary data or spotting invisible characters.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(reveals \n, \t)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 x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hexadecimal offsets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-t x1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one-byte hex values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 the invisible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CR/LF, NUL, tabs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 at the bytes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-n "Hi" | od -c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   H   i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od -A x -t x1 data.bin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 48 69 0a 00 ff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printf "a\tb\n" | od -c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\t  b  \n</a:t>
            </a:r>
            <a:endParaRPr lang="en-US" sz="12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REFERENCE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— merge lines side by side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corresponding lines of files into columns — the opposite of cut.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paste a b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lines with a TAB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-d','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delimiter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— all lines onto one row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tables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lists into columns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 from lists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paste names.txt ages.txt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avi	30
dani	25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paste -d, names ages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avi,30
dani,25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paste -s -d+ nums | bc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sum all the numbers</a:t>
            </a:r>
            <a:endParaRPr lang="en-US" sz="12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REFERENCE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— order lines of text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lines alphabetically by default, or numerically and by column.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sort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order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-k 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the Nth field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-u  /  -t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/ set field delimiter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things in order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sort names.txt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sort -n scores.txt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sort -t: -k3 -n /etc/passwd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sort by UID (3rd field)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sort -rn nums | head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largest values first</a:t>
            </a:r>
            <a:endParaRPr lang="en-US" sz="12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REFERENCE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— split a file into pieces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 large file into smaller chunks by line count or by size.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-l 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lines per output piece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 SIZE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size, e.g. 10M, 500k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prefix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for the pieces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suffixes (00, 01 …)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chop a big file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split -l 1000 big.log part_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part_*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part_aa part_ab part_ac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split -b 10M archive.tar chunk_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reassemble: cat chunk_* &gt; archive.tar</a:t>
            </a:r>
            <a:endParaRPr lang="en-US" sz="12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REFERENCE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 — collapse or count duplicates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or count adjacent duplicate lines — almost always used after sort.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each line with a count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only duplicated lines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-u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only unique lines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first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 only sees adjacent dups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occurrences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sort names | uniq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avi
dani
rina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sort names | uniq -c | sort -rn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avi
 7 dani
 3 rina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sort ip.log | uniq -d</a:t>
            </a:r>
            <a:endParaRPr lang="en-US" sz="12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REFERENCE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— count lines, words &amp; bytes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lines, words and bytes/characters in files or a pipeline.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lines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-w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words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  /  -m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/ characters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a pipe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 pipeline's output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much?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wc -l /etc/passwd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 /etc/passwd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wc notes.txt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12  45 320 notes.txt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lines words bytes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error log | wc -l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endParaRPr lang="en-US" sz="12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 &amp; DEVICES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devices (1)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5544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/dev/null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56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sink — discards all writes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3957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output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974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&amp;&gt; /dev/null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2369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/dev/zero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387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return endless \0 bytes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056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05840" y="407822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blank image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37997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if=/dev/zero of=disk.img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 and zero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noisy_cmd &amp;&gt; /dev/null
$ dd if=/dev/zero of=disk.img \
     bs=1k count=2048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2048+0 records in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 &amp; DEVICES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devices (2)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5544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/dev/random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56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random — may block for entropy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3957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use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974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keys, nonces, seeds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2369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/dev/urandom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387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blocks — pseudo-random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056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05840" y="407822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enough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37997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most programs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 bytes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head -c 8 /dev/urandom | xxd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3f a1 9c 04 e7 2b 55 d8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man random   # for details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Shutting down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5544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 -h +5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56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in 5 minutes (warns users)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3957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 -r now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974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reboot immediately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2369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Ctrl+Alt+Del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387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reboots on most PCs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 shutdown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shutdown -h +5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Broadcast: system going down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shutdown -r now
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Mounting devices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 a filesystem you attach (mount) it onto a directory in your tree.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mount point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mkdir /mnt/usbdisk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-t type dev dir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the device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type: ext4, vfat, iso9660 …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/etc/fstab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mount options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 a USB disk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mkdir /mnt/usbdisk
$ sudo mount -t vfat \
     /dev/sda1 /mnt/usbdisk
$ ls /mnt/usbdisk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photos  docs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mounted filesystems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5544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56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argument, lists all mounts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3957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974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device, mount point, type, options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2369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/etc/mtab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387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info, kept up to date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mounted?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mount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/dev/hda6 on / type ext3 (rw)
none on /proc type proc (rw)
none on /sys type sysfs (rw)
/dev/hda1 on /win type vfat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Unmounting devices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umount flushes pending writes so a device can be removed safely.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umount /mnt/usbdisk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writes &amp; detach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open files first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and shells using it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cd'd inside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shell with pwd in the mount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lsof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what still holds it open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detach cleanly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umount /mnt/usbdisk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umount: target is busy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lsof /mnt/usbdisk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4021 pi cwd /mnt/usbdisk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setup: interfaces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5544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ifconfig -a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56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of all interfaces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3957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ifconfig eth0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974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interface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2369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ifconfig eth0 192.168.0.100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387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 IP address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056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05840" y="407822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ifconfig eth0 down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37997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interface down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configuring eth0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ifconfig eth0 192.168.0.100
$ ifconfig eth0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eth0 inet 192.168.0.100
     RX 1024  TX 512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setup: routing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5544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add default gw &lt;ip&gt;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56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default gateway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3957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974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existing routes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2369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del default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387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default route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056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05840" y="407822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37997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packets off your network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default route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route add default gw 192.168.0.1
$ route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 Gateway    Iface
default     192.168.0.1 eth0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resolution (DNS)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turns a hostname like kernel.org into an IP address your programs can use.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/etc/resolv.conf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your DNS servers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nameserver &lt;ip&gt;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entry per server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take effect at once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/etc/resolv.conf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/etc/resolv.conf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nameserver 217.19.192.132
nameserver 212.27.32.177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getent hosts kernel.org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139.178.84.217 kernel.org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testing (ping)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sends packets and waits for replies — the first network sanity check.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&lt;host/ip&gt;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reachability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= reachable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 time shown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the gateway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interface works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an external IP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settings are correct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a host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ping 192.168.1.1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bytes icmp_seq=0 time=2.51 ms
64 bytes icmp_seq=1 time=3.16 ms
64 bytes icmp_seq=2 time=2.71 ms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Mounting a Windows share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files between Windows and Linux over the network (CIFS/SMB).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adapter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/proc/net/dev — the eth* name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IP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host-only network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-t cifs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the Windows share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the share (or add an exception)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 a CIFS share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mount -t cifs \
  -o username=yoav,password=noya \
  //192.168.61.1/linux_folder \
  /mnt/win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192.168.61.1 = Windows IP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/proc filesystem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 is a virtual filesystem exposing kernel internals as readable files.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/proc/cpuinfo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information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/proc/meminfo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status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/proc/version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&amp; build info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/proc/&lt;pid&gt;/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per-process info (cmdline, fd)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kernel state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/proc/cpuinfo | grep model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name : ARMv7 Processor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head -1 /proc/meminfo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MemTotal: 1884160 kB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/proc file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5544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56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/proc/driver/my_file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3957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974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123 &gt; /proc/driver/my_file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2369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Programmatically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387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open(2)/read(2)/write(2)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056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05840" y="407822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37997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delete/rename; often no size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&amp; write a proc file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/proc/driver/my_proc_file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state=idle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"123" &gt; /proc/driver/my_proc_file
$ cat /proc/driver/my_proc_file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value=123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 documentation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5544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docs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56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Documentation/filesystems/proc.txt (~2000 lines)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3957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proc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974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 page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2369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387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lwn.net/Articles/22355 — creating a proc file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to read more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man proc | head -3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PROC(5) File Formats
proc - process information
        pseudo-filesystem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sysfs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filesystem representing the hardware and drivers in the system.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state, bus, owning driver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structure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bus connects to which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devices &amp; buses they support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input, net, sound …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 /sys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/sys/class/net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eth0  lo  wlan0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/sys/class/net/eth0/address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b8:27:eb:1a:2b:3c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sysfs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5544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PCI devices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56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/sys/devices/pci0000:00/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3957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 attribute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974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.../irq → the IRQ used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2369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387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Documentation/driver-model/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056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05840" y="407822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37997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Documentation/filesystems/sysfs.txt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a device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/sys/devices/pci0000:00/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0000:00:1a.1  0000:00:1c.2 ...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.../0000:00:1c.4/irq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SEQUENCE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Linux boot process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power-on to /sbin/init — the sequence every Linux system follows.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BIOS / boot loader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 the hardware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Load the kernel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flash, disk or network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Decompress &amp; set up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drivers, tables, memory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Mount root &amp; run init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/sbin/init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 boot log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[ 0.00] Booting Linux on ARM
[ 0.84] Decompressing kernel
[ 2.13] VFS: Mounted root (ext4)
[ 3.21] Run /sbin/init as PID 1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SEQUENCE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filesystem options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root filesystem lives depends on the device.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 / NOR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/ SSD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CompactFlash, SD, SSD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SCSI / PATA / SATA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or network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initramfs, or NFS root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where's root?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/proc/cmdline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console=ttyS0
root=/dev/mmcblk0p2
# root = SD card, partition 2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SEQUENCE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— the first process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kernel's first and only launched process (PID 1) is init.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/sbin/init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location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init=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parameter to override it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apps, shut them down, adopt orphans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/etc/inittab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init's instructions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 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ps -p 1 -o pid,comm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 systemd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/proc/1/cmdline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/sbin/init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SEQUENCE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/etc/inittab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init reads its startup instructions from /etc/inittab.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Runlevels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services to start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respawn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a process if it exits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getty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login prompts on consoles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note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units replace inittab today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inittab line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id:runlevels:action:process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1:2345:respawn:/sbin/getty tty1
si::sysinit:/etc/init.d/rcS
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1.4 · PROCESSES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&amp; services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starts and supervises long-running services (daemons) on modern Linux.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status svc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running? recent logs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stop / restart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 service now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/ disable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boot (or not)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journalctl -u svc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service's logs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managing a service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systemctl restart ssh
$ systemctl status ssh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ssh.service - OpenSSH
</a:t>
            </a: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Active: active (running)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systemctl enable ssh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starts on every boot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10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1.4 · PROCESSES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managers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update and remove software from signed repositories — no hunting for installers.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Debian / Ubuntu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update / install / remove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Fedora / RHEL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dnf (or yum)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search NAME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show NAME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installing a tool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apt update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Fetched 8.2 MB ...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apt install htop
</a:t>
            </a: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 up htop ... done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apt list --installed | wc -l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512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1.4 · PROCESSES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&amp; journalctl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5544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/var/log/*.log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56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text log files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3957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journalctl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974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systemd journal (binary, queryable)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2369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journalctl -f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387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new entries live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056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05840" y="407822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journalctl -u ssh --since "1h ago"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37997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service &amp; time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the diary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journalctl -u ssh \
    --since "10 min ago"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Accepted password for pi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tail -f /var/log/syslog
</a:t>
            </a: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kernel: usb 1-1: new device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(streams live...)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1.4 · PROCESSES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&amp; memory tools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5544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-h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56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space per filesystem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3957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-sh DIR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974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size of a directory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2369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-h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387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and swap usage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056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05840" y="407822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37997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average over 1/5/15 min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the board full?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df -h /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/dev/root 15G 6.0G 40% /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du -sh /var/log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210M /var/log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free -h
</a:t>
            </a: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Mem: 1.8G  1.1G  0.7G
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10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48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Processing Toolset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and logs are text. Learn a few filters and you can slice, search and summarise anything.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1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1.5 · TEXT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text processing?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Linux, configuration and logs are plain text — so a handful of tools can process all of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from stdin, write to stdout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them with pipes ( | 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trio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(find), sed (edit), awk (columns)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helpers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sort, uniq, cut, tr, wc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big is this log?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wc -l access.log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10423 access.log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head -1 access.log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10.0.0.5 - GET /api 200
</a:t>
            </a: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text in, text out,
# endlessly combinable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1.5 · TEXT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— searching text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lines that match a pattern.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"error" file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containing 'error'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case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recursively through directories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 line #  ·  -v invert  ·  -c count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the failures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-i "fail" auth.log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 password for root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-rn "TODO" src/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src/app.py:42: # TODO fix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-c "404" access.log
</a:t>
            </a: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1.5 · TEXT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expressions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that describe text — shared by grep, sed, awk and many other tools.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and  *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char  /  zero-or-more of the previous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  and  $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of line  /  end of line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[0-9]  [a-z]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character class / range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\.  escaping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 literal dot; -E for {n} repeats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matching patterns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-E "^ERROR" app.log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disk full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-E "[0-9]{1,3}\." ips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10.0.0.5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-E "\.log$" files.txt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app.log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sys.log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1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1.5 · TEXT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 — the stream editor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text as it flows past — find/replace, delete, or print selected lines.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s/old/new/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first match per line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s/old/new/g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all matches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 '2,5p'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only lines 2–5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file in place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&amp; replace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"hello" | sed "s/l/L/g"
</a:t>
            </a: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"s/DEBUG/INFO/g" app.log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 starting up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-n "1,3p" app.log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prints lines 1-3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1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1.5 · TEXT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sed: how it works &amp; syntax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 (stream editor) reads input line by line, applies your commands, and writes the result to standard output.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 '[range] command' file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Non-destructive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to stdout — the file is unchanged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 the automatic printing of lines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  /  -f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commands / read them from a script file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shape of a command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'[addr] s/old/new/flags' file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addr  = which lines (range or regex)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s     = command (here: substitute)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flags = g, p, i ...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-n '/error/p' app.log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only lines containing error</a:t>
            </a:r>
            <a:endParaRPr lang="en-US" sz="12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1.5 · TEXT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lines (the p command)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prints a line. On its own sed already prints every line, so pair p with -n to print only what you select.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 'p'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— every line appears twice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 -n 'p'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 cancels auto-print → once each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 '1,5p'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only lines 1–5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 '15,$p'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line 15 to the end ( $ 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selective printing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-n '1,5p' file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first five lines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-n '/^root/p' /etc/passwd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root:x:0:0:root:/root:/bin/bash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-n '15,$p' /etc/passwd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line 15 through EOF</a:t>
            </a:r>
            <a:endParaRPr lang="en-US" sz="125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1.5 · TEXT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lines by pattern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can be regular expressions, and ! inverts any address.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/^root/p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that start with 'root'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15,$!p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EXCEPT lines 15→end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/^a[0-9]/p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'a' then a digit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/^...$/p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exactly three characters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 addresses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-n '15,$!p' /etc/passwd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all lines BEFORE line 15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-n '/^a[0-9]/p' /etc/passwd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a1..., a7... 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-n '/^...$/p' file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x9z</a:t>
            </a:r>
            <a:endParaRPr lang="en-US" sz="12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1.5 · TEXT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Substitution:  s/old/new/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workhorse of sed: replace text, optionally only on lines matching an address.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s/root/boot/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first match on each line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s/root/boot/g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flag → replace every match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/^root/ s/root/boot/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 lines starting with root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s@..@..@  /  s#..#..#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alt. delimiters when text has /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&amp; replace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'/^root/ s/root/boot/' passwd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boot:x:0:0:root:/root:/bin/bash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'/^root/ s/root/boot/g' passwd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boot:x:0:0:boot:/boot:/bin/bash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'/^root/ s@/bin/bash@/bin/sh@' \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/etc/passwd</a:t>
            </a:r>
            <a:endParaRPr lang="en-US" sz="12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1.5 · TEXT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Ranges, in-place editing &amp; y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changes to a line range, preview them, then write them back with -i.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 s/nologin/virtual/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only lines 4–9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 '... p'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just the changed lines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file in place (no output)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-i.bak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in place, keep a .bak backup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to the file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-n '4,9 s/nologin/virtual/p' \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passwd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preview affected lines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-i.bak '4,9 s/nologin/virtual/' \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passwd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'y/ai/_*/' emp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transliterates: a-&gt;_  i-&gt;*</a:t>
            </a:r>
            <a:endParaRPr lang="en-US" sz="125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1.5 · TEXT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append &amp; delete lines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whole lines with i (before) and a (after); remove lines with 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 i hello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'hello' before lines 2–4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 a hello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'hello' after lines 2–4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/^s/ d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lines starting with 's'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/^$/d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blank lines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adding &amp; removing lines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'/^s/ a hello' passwd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append after lines starting s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'2,4 d' passwd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'/^[sm]/ d' passwd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drop lines starting s or m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'/^[^smp]/ d' passwd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ONLY s, m, p lines</a:t>
            </a:r>
            <a:endParaRPr lang="en-US" sz="125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1.5 · TEXT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commands &amp; script files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several commands together, or keep them in a reusable .sed script file.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 'cmd' -e 'cmd'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expressions on the CLI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... }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 of commands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 script.sed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commands from a file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-i.bak -f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script in place, with backup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sedsamp  (a script file)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file: sedsamp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1,3 i hello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5,8 d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10,12 a bye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# run it: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-f sedsamp /etc/passwd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-i.bak -f sedsamp passwd</a:t>
            </a:r>
            <a:endParaRPr lang="en-US" sz="12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1.5 · TEXT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Groups, back-references &amp; executing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parts of a line with \( \) and reuse them; \U upper-cases the next group.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\( \)  →  \1 \2 \3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groups &amp; back-references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\U\1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upper-case a captured group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groups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fields in any order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s/^/ls -l / e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command, e executes it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 &amp; execute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's/\([^,]*\)/\U\1/' emp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upper-case the first CSV field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's/\(.*\),\(.*\),\(.*\)/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\U\3#\2#\U\1/' emp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swap 1st and 3rd fields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's/^/ls -l / e' folders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generate then RUN each command</a:t>
            </a:r>
            <a:endParaRPr lang="en-US" sz="125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1.5 · TEXT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awk — columns &amp; fields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each line as fields — perfect for tables, CSVs and structured logs.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'{print $1}'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whitespace field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-F: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field separator (here, ':')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'$3 &gt; 100'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rows by a condition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'{s+=$1} END{print s}'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a column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 &amp; compute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awk '{print $1,$9}' access.log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10.0.0.5 200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awk -F: '{print $1}' \
      /etc/passwd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
daemon
pi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awk '{s+=$5} END{print s}' log
</a:t>
            </a: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84213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10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1.5 · TEXT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cut, sort, uniq, tr, wc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5544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-d: -f1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56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fields by a delimiter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3957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 /  sort -n  /  sort -r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974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lines (numeric, reverse)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2369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 -c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387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duplicates and count them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056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05840" y="407822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 ·  wc -l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37997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chars / count lines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&amp; rank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cut -d, -f2 data.csv | head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sort ips.txt | uniq -c \
    | sort -rn | head -3
</a:t>
            </a: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842 10.0.0.5
611 10.0.0.9
512 10.0.0.2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10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1.5 · TEXT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top 5 clients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everything into one pipeline: the five busiest IPs in a web access log.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3566160"/>
          </a:xfrm>
          <a:prstGeom prst="roundRect">
            <a:avLst>
              <a:gd name="adj" fmla="val 1795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7899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261872" y="2093976"/>
            <a:ext cx="10177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pipeline, real answer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1109167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86384" y="2514600"/>
            <a:ext cx="1065276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awk '{print $1}' access.log \
    | sort \
    | uniq -c \
    | sort -rn \
    | head -5
</a:t>
            </a: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842 10.0.0.5
    611 10.0.0.9
    512 10.0.0.2
    377 10.0.0.7
    290 10.0.0.3
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10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1.5 · TEXT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awk: how it works &amp; syntax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awk is a programmable stream editor for structured data and reports — a small language with C-like syntax.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&amp; fields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 is a record $0; words are $1, $2 …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{ action }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action on lines matching the pattern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blocks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 →  main loop  →  END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script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#!/usr/bin/awk -f  at the top of a file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chosen fields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emp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avi 30 haifa
dani 25 tel
rina 40 aco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awk '{ print $1, "-", $3 }' emp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avi - haifa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dani - tel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rina - aco</a:t>
            </a:r>
            <a:endParaRPr lang="en-US" sz="125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1.5 · TEXT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&amp; printing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is the whole line; $1..$NF are the fields. print joins its arguments with OFS (a space).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current line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 $2, $3 …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fields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$NF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field on the line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a, b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 → separated by OFS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 out fields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awk '{ print $2 }' emp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
25
40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awk '{ print $1, $NF }' emp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avi haifa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dani tel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rina aco</a:t>
            </a:r>
            <a:endParaRPr lang="en-US" sz="125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1.5 · TEXT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&amp; END blocks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runs before any input, END after all of it — ideal for headers, footers and totals.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{ }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headers, set FS, init vars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  (main)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per input line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{ }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totals &amp; counts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 in END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records were read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header, body, footer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awk 'BEGIN{print "Customers:"}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{print}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END{print "num: " NR}' emp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Customers: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avi 30 haifa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num: 3</a:t>
            </a:r>
            <a:endParaRPr lang="en-US" sz="125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1.5 · TEXT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variables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awk exposes useful variables you can read — and separators you can set.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  /  NF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number / number of fields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FNR  /  FILENAME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no. in file / current file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 /  OFS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 field separator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 /  ORS  /  OFMT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separators / number format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 and NF in action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awk '{print NR, NF, $0}' emp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3 avi 30 haifa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3 dani 25 tel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3 rina 40 aco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awk 'END{print FILENAME, NR}' emp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 3</a:t>
            </a:r>
            <a:endParaRPr lang="en-US" sz="125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1.5 · TEXT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separators (FS &amp; OFS)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FS to parse CSV or /etc/passwd; set OFS to format the output.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BEGIN{ FS="," }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fields on commas (CSV)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-F','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same, from the command line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string that joins printed fields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fields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them in any order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reshape a CSV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emp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avi,1200,haifa
dani,2300,tel aviv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awk 'BEGIN{FS=","; OFS="*"}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{print $3, $2}' emp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haifa*1200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 aviv*2300</a:t>
            </a:r>
            <a:endParaRPr lang="en-US" sz="125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1.5 · TEXT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&amp; conditions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pattern selects lines; combine regex, field tests and NR to filter.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/[0-9]+/ { }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that contain a number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/^$/ { }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lines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 == "W" { }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field's value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NR==1{next}  ,  /^#/{next}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header / comment lines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filtering rows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awk '/^$/{print "blank"}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/[0-9]+/{print "number"}' f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awk '$2 &gt; 1500 {print $1}' emp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dani
rina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awk 'NR==1{next} {print}' data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skip the header row</a:t>
            </a:r>
            <a:endParaRPr lang="en-US" sz="125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1.5 · TEXT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&amp; aggregation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need no declaration and start at zero — perfect for sums, counts and averages.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+= $5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 a column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n++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rows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declarations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uninitialised variables = 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 END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results after the loop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&amp; average a column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awk '{ n++; bytes += $5 }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END{ print n, "files,",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bytes, "bytes" }' list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files, 1048576 bytes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awk '{s+=$2} END{print s/NR}' emp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2200      # the average</a:t>
            </a:r>
            <a:endParaRPr lang="en-US" sz="125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1.5 · TEXT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loops &amp; printf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Associative arrays plus for-in loops and printf turn awk into a mini report engine.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arr[$4] += $6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associative (keyed) arrays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(k in arr)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over the keys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 "%s: $%g\n"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C-style formatted output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inside the loop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what you print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totals per account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awk '$5=="D"{dep[$4]+=$6}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END{ for(k in dep)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printf("%s: $%g\n",k,dep[k]) }' tx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acc17: $250
acc09: $1200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total per account key</a:t>
            </a:r>
            <a:endParaRPr lang="en-US" sz="125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48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Linux Targets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everything you've learned and run it on real hardware: connect, deploy, and control a board.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</a:t>
            </a:r>
            <a:endParaRPr lang="en-US" sz="10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1.7 · EMBEDDED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vs. desktop Linux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kernel and commands — but very different constraints.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3794760"/>
          </a:xfrm>
          <a:prstGeom prst="roundRect">
            <a:avLst>
              <a:gd name="adj" fmla="val 241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94960" cy="640080"/>
          </a:xfrm>
          <a:prstGeom prst="roundRect">
            <a:avLst>
              <a:gd name="adj" fmla="val 14286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19202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/ Server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CPU, gigabytes of RAM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46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disk; install anything with apt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490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keyboard, GUI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519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directly on the machine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7548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many general-purpose PCs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45352" y="1920240"/>
            <a:ext cx="5394960" cy="3794760"/>
          </a:xfrm>
          <a:prstGeom prst="roundRect">
            <a:avLst>
              <a:gd name="adj" fmla="val 241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45352" y="1920240"/>
            <a:ext cx="5394960" cy="640080"/>
          </a:xfrm>
          <a:prstGeom prst="roundRect">
            <a:avLst>
              <a:gd name="adj" fmla="val 14286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519672" y="19202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Board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2743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CPU, limited RAM &amp; flash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519672" y="3246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measured in MB/GB — tight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519672" y="37490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Headless: SSH or serial only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42519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often cross-compiled on a PC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519672" y="47548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to one job, runs for years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0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1.7 · EMBEDDED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embedded board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5544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56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+ GPU + peripherals on one chip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3957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&amp; flash (eMMC / SD)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974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limited, non-expandable resources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2369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/ I2C / SPI / UART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387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to talk to sensors &amp; devices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056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05840" y="407822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37997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Pi, BeagleBone, NXP i.MX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 board?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/proc/cpuinfo | grep Model
</a:t>
            </a: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: Raspberry Pi 4 Model B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nproc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free -h | grep Mem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Mem: 1.8Gi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/dev/tty* | head -3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/dev/ttyAMA0 ...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10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1.7 · EMBEDDED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Cross-compilation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your fast PC (the host) to produce a binary for the board's CPU (the target).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x86_64 laptop — fast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ARM board — slower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arm-linux-gnueabihf-gcc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 are too slow to compile big projects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for ARM on x86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arm-linux-gnueabihf-gcc \
     -o app app.c
$ file app
</a:t>
            </a: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app: ELF 32-bit ARM,
     dynamically linked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scp app pi@board:~   # then run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10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1.7 · EMBEDDED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process &amp; U-Boot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embedded board comes to life — the same stages you saw on the desktop, closer to the metal.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6675120" cy="804672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185416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31520" y="2185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09397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 / SPL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32304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On-chip loader in the SoC; brings up RAM.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76148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44368"/>
            <a:ext cx="6675120" cy="804672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1520" y="3118104"/>
            <a:ext cx="457200" cy="457200"/>
          </a:xfrm>
          <a:prstGeom prst="ellipse">
            <a:avLst/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3152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02666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36499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bootloader: loads the kernel &amp; device tree.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36941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877056"/>
            <a:ext cx="6675120" cy="804672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" y="4050792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3152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95935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2976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Initialises hardware and drivers.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41248" y="462686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▼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809744"/>
            <a:ext cx="6675120" cy="804672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1520" y="4983480"/>
            <a:ext cx="457200" cy="457200"/>
          </a:xfrm>
          <a:prstGeom prst="ellipse">
            <a:avLst/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3152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4892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(systemd)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23036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services; you get a login.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406640" y="2011680"/>
            <a:ext cx="4206240" cy="3566160"/>
          </a:xfrm>
          <a:prstGeom prst="roundRect">
            <a:avLst>
              <a:gd name="adj" fmla="val 1795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607808" y="21945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772400" y="21945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936992" y="21945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8119872" y="213969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 boot log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406640" y="2450592"/>
            <a:ext cx="4206240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7644384" y="2560320"/>
            <a:ext cx="3767328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U-Boot 2023.01 (board)
Loading kernel...
Starting kernel ...
</a:t>
            </a:r>
            <a:r>
              <a:rPr lang="en-US" sz="11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  0.00] Linux 6.1.0
[    3.21] systemd[1]:
</a:t>
            </a: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Reached target Multi-User
</a:t>
            </a: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 login: _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10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1.7 · EMBEDDED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via SSH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usual way to get a shell on a networked board — secure and remote.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user@host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remote shell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pi@192.168.1.50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IP address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 file user@host:/path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files over SSH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keys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password-less, more secure login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 shell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ssh pi@192.168.1.50
</a:t>
            </a: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pi@raspberrypi:~$ 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uname -m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aarch64
</a:t>
            </a: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pi@raspberrypi:~$ 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
$ scp app.py pi@192.168.1.50:~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   100%  2KB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10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1.7 · EMBEDDED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console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there's no network yet — or the board won't boot — talk to it over UART.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USB-to-TTL adapter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board's UART to your PC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/dev/ttyUSB0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serial device on your PC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DEV 115200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at the right baud rate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minicom / picocom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serial terminals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talking over UART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/dev/ttyUSB*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/dev/ttyUSB0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screen /dev/ttyUSB0 115200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U-Boot 2023.01
</a:t>
            </a: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 login: root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(Ctrl+A then k to quit)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10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1.7 · EMBEDDED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Flashing images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complete OS image onto the board's SD card or eMMC.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 .img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disk image of the 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device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lsblk — be 100% sure which disk!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/ Imager / Etcher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image to the card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dd is unforgiving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device wipes your disk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the card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lsblk
</a:t>
            </a:r>
            <a:r>
              <a:rPr lang="en-US" sz="12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sda   256G  disk  (your PC!)
</a:t>
            </a: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sdb    32G  disk  (SD card)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dd if=os.img of=/dev/sdb \
     bs=4M status=progress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 GB copied, 92 s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</a:t>
            </a:r>
            <a:endParaRPr lang="en-US" sz="10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1.7 · EMBEDDED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&amp; device access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Linux, hardware appears as files under /sys and /dev — so you control it with the tools you know.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/sys/class/gpio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I/O pins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072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/dev/ttyUSB0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ports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6484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/dev/i2c-1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I2C bus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4897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&gt; file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 a file to drive hardware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3977640"/>
          </a:xfrm>
          <a:prstGeom prst="roundRect">
            <a:avLst>
              <a:gd name="adj" fmla="val 1609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blink an LED on GPIO17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17 &gt; /sys/class/gpio/export
$ echo out &gt; \
  /sys/class/gpio/gpio17/direction
$ echo 1 &gt; \
  /sys/class/gpio/gpio17/value
</a:t>
            </a: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LED on 💡
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0 &gt; .../value  # off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10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1.7 · EMBEDDED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scripts to the board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5544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 file user@host:~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56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single file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3957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rsync -av dir/ host:/opt/app/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974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a whole folder efficiently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2369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host 'cmd'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387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command remotely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056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05840" y="407822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 on the board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37997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fetch from a repo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29400" y="1554480"/>
            <a:ext cx="5010912" cy="4389120"/>
          </a:xfrm>
          <a:prstGeom prst="roundRect">
            <a:avLst>
              <a:gd name="adj" fmla="val 1458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blurRad="88900" dist="381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30568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95160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59752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342632" y="1682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&amp; run in one line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29400" y="199339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867144" y="2103120"/>
            <a:ext cx="457200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scp deploy.sh \
     pi@192.168.1.50:~
$ rsync -av src/ \
     pi@192.168.1.50:/opt/app/
$ ssh pi@192.168.1.50 \
   'chmod +x deploy.sh &amp;&amp; ./deploy.sh'
</a:t>
            </a: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deploying... done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4757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0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48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Scripting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runnable scripts — grouped by topic, straight from the course examples (scripts/1–15).</a:t>
            </a:r>
            <a:endParaRPr lang="en-US" sz="16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BASH scripting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shell script is a text file of commands the shell runs top to bottom. This section teaches it through real, runnable examples.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Shebang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#!/bin/bash on line 1 picks the interpreter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78892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it executable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09067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+x script  →  ./script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118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Building blocks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136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arguments, tests, loops, functions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46227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3484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 by example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3659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slide is one real script from the course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getting started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"Hello, $USER"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+x hello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./hello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student
</a:t>
            </a:r>
            <a:endParaRPr lang="en-US" sz="125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script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script: a shebang plus one command.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#!/bin/sh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shebang selects the interpreter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78892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09067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text to standard output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118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+x; ./first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136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executable, then run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1965960"/>
            <a:ext cx="501091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67144" y="2514600"/>
            <a:ext cx="457200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#!/bin/sh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"Hello world"
</a:t>
            </a:r>
            <a:endParaRPr lang="en-US" sz="125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&amp; call a function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a function and call it several times; $1 is its argument.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fn { }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function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78892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 /  fn "hello"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09067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it, with or without an arg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118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136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argument inside fn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1965960"/>
            <a:ext cx="501091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67144" y="2514600"/>
            <a:ext cx="457200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fn {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"function call $1"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"hello"
</a:t>
            </a:r>
            <a:endParaRPr lang="en-US" sz="125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variable and expand it (no spaces around =).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s="..."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— no spaces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78892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09067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value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118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Quoting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136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quotes keep the spaces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1965960"/>
            <a:ext cx="501091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67144" y="2514600"/>
            <a:ext cx="457200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s="HELLO WORLD!!!"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$s 
</a:t>
            </a:r>
            <a:endParaRPr lang="en-US" sz="125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replaces the shell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replaces the current process — nothing after it runs.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 ls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shell with 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78892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'bye' never prints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09067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does not return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118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136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control to another program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1965960"/>
            <a:ext cx="501091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scripts/4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67144" y="2514600"/>
            <a:ext cx="457200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'hi'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 ls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'bye'
</a:t>
            </a:r>
            <a:endParaRPr lang="en-US" sz="125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parameters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command-line arguments and count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script's name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78892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  $2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09067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arguments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118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$#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136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arguments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1965960"/>
            <a:ext cx="501091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67144" y="2514600"/>
            <a:ext cx="457200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"name= $0"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"first arg is $1"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"second arg is $2"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"Total number of arguments is $#" 
</a:t>
            </a:r>
            <a:endParaRPr lang="en-US" sz="125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builtin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-- reassigns $1..$n from a command's output.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-- $(...)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output into positionals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78892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$5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09067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 field (size, from ls -l)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118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Trick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136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field extraction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1965960"/>
            <a:ext cx="501091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67144" y="2514600"/>
            <a:ext cx="457200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file="$1"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-- $(ls -l "$file")   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filesize=$5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"$file: $filesize"
</a:t>
            </a:r>
            <a:endParaRPr lang="en-US" sz="125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$* vs $@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$*, $@, "$*" and "$@" differ when forwarding arguments.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980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7899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261872" y="2093976"/>
            <a:ext cx="10177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1109167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86384" y="2514600"/>
            <a:ext cx="1065276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echo 'MAIN sees ' $# ' args'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$*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$@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"$*"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"$@"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 with ./params_spec a b 'c d e'
</a:t>
            </a:r>
            <a:endParaRPr lang="en-US" sz="12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a signal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runs a handler when a signal arrives — here Ctrl+C (INT).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980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7899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261872" y="2093976"/>
            <a:ext cx="10177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1109167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86384" y="2514600"/>
            <a:ext cx="1065276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trap trapfn INT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trapfn()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"no !!!"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COUNT=6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bash while loop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[ $COUNT -gt 0 ]; do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Value of count is: $COUNT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sleep 1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let COUNT=COUNT-1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
</a:t>
            </a:r>
            <a:endParaRPr lang="en-US" sz="12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 a command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branches on a command's exit status (grep matched?).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CMD; then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exit code = true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78892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/dev/null 2&gt;&amp;1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09067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output &amp; errors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118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in passwd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136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a user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1965960"/>
            <a:ext cx="501091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scripts/7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67144" y="2514600"/>
            <a:ext cx="457200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grep $1 /etc/passwd &gt; /dev/null 2&gt;&amp;1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echo 'found you'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
</a:t>
            </a:r>
            <a:endParaRPr lang="en-US" sz="125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[ ]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test: -f (exists) and -a (and) inside [ ].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-f FILE ]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&amp; is a regular file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78892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09067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AND (inside [ ])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118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136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is readable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1965960"/>
            <a:ext cx="501091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scripts/7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67144" y="2514600"/>
            <a:ext cx="457200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[ -f /etc/passwd -a -r /etc/passwd ]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echo 'passwd exists and readable'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
</a:t>
            </a:r>
            <a:endParaRPr lang="en-US" sz="125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[[ ]] form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[[ ]] test with &amp;&amp; — safer than [ ].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980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7899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261872" y="2093976"/>
            <a:ext cx="10177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scripts/7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1109167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86384" y="2514600"/>
            <a:ext cx="1065276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[[ -f /etc/passwd &amp;&amp; -r /etc/passwd ]]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echo 'passwd exists and readable'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
</a:t>
            </a:r>
            <a:endParaRPr lang="en-US" sz="12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&amp; string tests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numbers with (( )) and -eq/-ne/-gt, strings with ==.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980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7899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261872" y="2093976"/>
            <a:ext cx="10177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scripts/7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1109167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86384" y="2514600"/>
            <a:ext cx="1065276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(( $# != 4 ))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echo 'wrong number of agruments'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[[ $# -ne 4 ]]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echo 'wrong number of agruments'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[ $# -ne 4 ]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echo 'wrong number of agruments'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(( $1 == 40 &amp;&amp; $2&gt;10 ))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echo 'values ok'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[ $1 -eq 40 -a $2 -gt 10 ]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echo 'values ok'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[[ $4 == "hello" ]]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echo 'hello'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
</a:t>
            </a:r>
            <a:endParaRPr lang="en-US" sz="10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on a command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while a command keeps succeeding — nag a logged-in user.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CMD; do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while exit code 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78892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| grep user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09067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user online?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118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&lt;&lt;&lt; msg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136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them a message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1965960"/>
            <a:ext cx="501091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scripts/7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67144" y="2514600"/>
            <a:ext cx="457200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user=tester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who | grep "$user" &gt; /dev/null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write "$user" &lt;&lt;&lt; 'Please log out'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echo "sent message to $user"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sleep 5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
</a:t>
            </a:r>
            <a:endParaRPr lang="en-US" sz="125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until a file exists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prompting until the named file appears.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 ! -f $f ]]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negated file test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78892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-p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09067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read a value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118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136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condition met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1965960"/>
            <a:ext cx="501091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scripts/7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67144" y="2514600"/>
            <a:ext cx="457200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[[ ! -f $filename ]] 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"$filename does not exist"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read -p '&gt;&gt; ' filename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
</a:t>
            </a:r>
            <a:endParaRPr lang="en-US" sz="125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&amp; string slicing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over log lines (IFS=newline) and use string operators.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980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7899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261872" y="2093976"/>
            <a:ext cx="10177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scripts/8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1109167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86384" y="2514600"/>
            <a:ext cx="1065276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filename=$1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IFS=$'\n'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next in $(cat /var/log/syslog | grep NetworkManager)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'**********'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${next:63:100} 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'========='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${next#*info&gt;} 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
</a:t>
            </a:r>
            <a:endParaRPr lang="en-US" sz="12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variable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${A:?} aborts with an error if A is unset or empty.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${A:?}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out if unset/empty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78892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${..}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09067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no-op builtin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118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136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required input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1965960"/>
            <a:ext cx="501091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scripts/8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67144" y="2514600"/>
            <a:ext cx="457200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A=$1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${A:?} 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"ok"
</a:t>
            </a:r>
            <a:endParaRPr lang="en-US" sz="125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Here-doc to a command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a here-document (&lt;&lt; EOF) as input to a command.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 EOF .. EOF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here-document input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78892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sudo gdb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09067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the doc into gdb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118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Advanced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136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unbind a readonly variable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1965960"/>
            <a:ext cx="501091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scripts/9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67144" y="2514600"/>
            <a:ext cx="457200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&lt;&lt; EOF | sudo gdb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attach $$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unbind_variable("s")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detach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EOF
</a:t>
            </a:r>
            <a:endParaRPr lang="en-US" sz="125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over arguments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'for' loops over the script's arguments.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arg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implicitly loops over "$@"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78892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.. done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09067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body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118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$arg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136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each argument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1965960"/>
            <a:ext cx="501091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scripts/10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67144" y="2514600"/>
            <a:ext cx="457200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arg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$arg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
</a:t>
            </a:r>
            <a:endParaRPr lang="en-US" sz="125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C-style for loop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arithmetic (( )) for-loop, just like 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 i=0; i&lt;10; i++ ))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C-style counting loop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78892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numeric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09067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indexes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118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$i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136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0..9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1965960"/>
            <a:ext cx="501091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scripts/10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67144" y="2514600"/>
            <a:ext cx="457200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(( i=0; i&lt;10; i++ ))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$i 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
</a:t>
            </a:r>
            <a:endParaRPr lang="en-US" sz="125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only directories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entries, keep only directories via [[ -d ]].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file in *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 the current dir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78892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 -d $file ]]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09067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 directory?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118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136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dir itself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1965960"/>
            <a:ext cx="501091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scripts/10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67144" y="2514600"/>
            <a:ext cx="457200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"Directories in $PWD" 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file in *; do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[[ -d $file ]]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then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ls -ld $file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
</a:t>
            </a:r>
            <a:endParaRPr lang="en-US" sz="125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Brace &amp; seq ranges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loop over ranges: globs, {a..b}, and seq.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980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7899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261872" y="2093976"/>
            <a:ext cx="10177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scripts/10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1109167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86384" y="2514600"/>
            <a:ext cx="1065276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next in $(ls /var/log/syslog.{2..7}.*)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$next 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{10..15} 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$i 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start=10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end=14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$(seq $start $end) 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$i 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
</a:t>
            </a:r>
            <a:endParaRPr lang="en-US" sz="12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file line by line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pattern: while read -r line ... done &lt; file.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read -r line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at a time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78892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09067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backslashes literal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118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$1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136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file as input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1965960"/>
            <a:ext cx="501091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scripts/10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67144" y="2514600"/>
            <a:ext cx="457200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read -r line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$line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 &lt; $1
</a:t>
            </a:r>
            <a:endParaRPr lang="en-US" sz="125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fields from a here-doc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splits each line into fields; data from a here-document.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user machine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two variables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78892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&lt;&lt;_END .. _END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09067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here-document data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118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136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IFS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1965960"/>
            <a:ext cx="501091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scripts/10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67144" y="2514600"/>
            <a:ext cx="457200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read user machine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$user $machine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 &lt;&lt;_END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fred    baloo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clive   bungle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_END
</a:t>
            </a:r>
            <a:endParaRPr lang="en-US" sz="125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 with select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builds a numbered menu; PS3 is the prompt.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980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7899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261872" y="2093976"/>
            <a:ext cx="10177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scripts/10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1109167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86384" y="2514600"/>
            <a:ext cx="1065276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'Please choose from:'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PS3='choose &gt;&gt; '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food in apple 'cheese biscuit' fruitcake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if [[ -z $food ]]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then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echo "$REPLY ?"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else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break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fi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"You chose $food"
</a:t>
            </a:r>
            <a:endParaRPr lang="en-US" sz="12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 with case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matches a value against patterns — cleaner than many elifs.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980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7899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261872" y="2093976"/>
            <a:ext cx="10177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scripts/11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1109167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86384" y="2514600"/>
            <a:ext cx="1065276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$1 in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2001) echo 'The best, especially the movie' ;;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2010) echo 'Pretty good' ;;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2060) echo 'Much as 2010' ;;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3001) echo 'Interesting conclusion, but…' ;;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*)    echo 'Not a valid Odyssey' ;;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esac
</a:t>
            </a:r>
            <a:endParaRPr lang="en-US" sz="12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Fall-through: ;;&amp; and ;&amp;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between branches: ;&amp; falls through, ;;&amp; keeps testing.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;&amp;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into the next branch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78892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;;&amp;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09067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testing later patterns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118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;;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136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(normal)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1965960"/>
            <a:ext cx="501091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scripts/11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67144" y="2514600"/>
            <a:ext cx="457200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$1 in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2000) echo '2000';&amp;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2001) echo 'Either 2000 or 2001' ;;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2060) echo '2060' ;;&amp;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2080) echo '2080' ;;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*)    echo 'Default' ;;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esac
</a:t>
            </a:r>
            <a:endParaRPr lang="en-US" sz="125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a whole block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the combined output of an entire if/else to a file.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 &gt;&gt; logfile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the whole block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78892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+ else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09067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captured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118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$(date)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136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the log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1965960"/>
            <a:ext cx="501091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scripts/11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67144" y="2514600"/>
            <a:ext cx="457200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Note: statements redirected at end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grep $1 /etc/passwd &gt; /dev/null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$(date) 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"found $1"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echo "didn't find $1"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 &gt;&gt; logfile
</a:t>
            </a:r>
            <a:endParaRPr lang="en-US" sz="125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return codes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function styles; return passes a small integer status.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980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7899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261872" y="2093976"/>
            <a:ext cx="10177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scripts/12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1109167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86384" y="2514600"/>
            <a:ext cx="1065276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fn(){ 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x=$1; 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y=$2; 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((z=x+y)); 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$z; 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odd_even {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declare -i z;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((z=$1 % 2));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$z;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endParaRPr lang="en-US" sz="12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getopts (flags)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single-letter options with getopts in a while/case loop.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getopts CaF opt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C, a, 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78892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$opt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09067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each flag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118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136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parsing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1965960"/>
            <a:ext cx="501091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scripts/13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67144" y="2514600"/>
            <a:ext cx="457200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getopts CaF option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$option in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F)    echo "seen 'F'";;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C)    echo "seen 'C'";;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a)    echo "seen 'a'";;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esac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
</a:t>
            </a:r>
            <a:endParaRPr lang="en-US" sz="125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getopts with arguments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that take a value (g:), then shift past the parsed options.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980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7899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261872" y="2093976"/>
            <a:ext cx="10177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scripts/13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1109167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86384" y="2514600"/>
            <a:ext cx="1065276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-i toshift 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getopts Cg:l theArg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case $theArg in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C) Cflag="YES"; echo "seen 'C'";;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g) gflag="YES"; 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gArg=$OPTARG; echo "seen 'g' with arg &lt;$gArg&gt;";;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l) lflag="YES"; echo "seen 'l'";;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esac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((toshift = $OPTIND-1 ))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 $toshift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"The rest is: &lt;$@&gt;"
</a:t>
            </a:r>
            <a:endParaRPr lang="en-US" sz="12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/etc/passwd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line into an array with a custom IFS, then filter by a field.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980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7899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261872" y="2093976"/>
            <a:ext cx="10177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scripts/14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1109167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86384" y="2514600"/>
            <a:ext cx="1065276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IFS=','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IFS=':' read -a line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end=$(( ${#line[*]} - 1 ))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if (( $end &gt;= 0 )) &amp;&amp; 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[[ ${line[$end]} != /sbin/nologin ]]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then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echo "${line[*]}"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fi
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 &lt; /etc/passwd
</a:t>
            </a:r>
            <a:endParaRPr lang="en-US" sz="12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1.6 · BASH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named pipe (FIFO)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read from a FIFO that another process writes 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mkfifo myfifo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677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named pipe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278892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./myfifo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09067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until data arrives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05840" y="36118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136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forever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46227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43484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3659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x &gt; myfifo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10912" cy="4069080"/>
          </a:xfrm>
          <a:prstGeom prst="roundRect">
            <a:avLst>
              <a:gd name="adj" fmla="val 1573"/>
            </a:avLst>
          </a:prstGeom>
          <a:solidFill>
            <a:srgbClr val="0B1220"/>
          </a:solidFill>
          <a:ln w="12700">
            <a:solidFill>
              <a:srgbClr val="233046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30568" y="21488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95160" y="21488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59752" y="21488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42632" y="20939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scripts/15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404872"/>
            <a:ext cx="5010912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67144" y="2514600"/>
            <a:ext cx="457200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next=$(cat ./myfifo)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$next 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
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993</TotalTime>
  <Words>10474</Words>
  <Application>Microsoft Office PowerPoint</Application>
  <PresentationFormat>Widescreen</PresentationFormat>
  <Paragraphs>1464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1 - Linux Foundations &amp; Embedded Targets (Teaching Deck)</dc:title>
  <dc:subject>PptxGenJS Presentation</dc:subject>
  <dc:creator>BinaDev</dc:creator>
  <cp:lastModifiedBy>liran ben haim</cp:lastModifiedBy>
  <cp:revision>2</cp:revision>
  <dcterms:created xsi:type="dcterms:W3CDTF">2026-09-16T11:23:01Z</dcterms:created>
  <dcterms:modified xsi:type="dcterms:W3CDTF">2026-09-17T05:43:54Z</dcterms:modified>
</cp:coreProperties>
</file>